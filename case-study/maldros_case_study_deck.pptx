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Portfolio case study for the Maldros system. Maturity states are labeled throughout: design-complete, validated via simulation, production-deployed (none). The 288.9s runtime is the least interesting result — governance held (97.2% citation, three L1 vetoes, no auto-approve) is the differentiator.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L1 executive summary. The four KPIs validate the finding. Amber focal = 97.2% citation coverage, the governance number. Nothing here is live production impact.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chart in the deck, placed as evidence after the finding — the deck never opens on a chart (§7). Amber focal = the 41-account cluster bar. Axis is zero-based; the dashed line marks the 1.0× surrounding-rate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 slide. Amber focal = the 5-layer inference stack, where L1 vetoes L5. Sets up slide 5, which shows the two concrete enforcement mechanisms.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 for slide 4. Amber focal = the single insight line: the held Phase 7 proposal proves the no-auto-approve rule works. P-060: seven unsupported drafts blocked before one passed.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 slide. Amber focal = Phase 5 (Invention / The Forge) — the genuinely novel capability. Slide 7 is the phase-by-phase evidence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 table for slide 6. P-038 lock: Phase 4 is the measured 40–53% edit-distance step then flat — never the design-target multipliers. Amber focal = the closing insight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 slide. Amber focal = the 8 narrow-mandate agents. Stack named explicitly (DuckDB, Parquet, Python, Claude Code) per the project 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 slide. Amber focal = 9/9 Phase 0 exit criteria confirmed. The methodology is itself an engineering-process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 + evidence. Amber focal = the ROI band. Honest framing preserved: figures are projected from a synthetic-domain simulation; plan to the milestone sequence, not the payback ratio.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 slide. The recommendation (amber block) closes the FINDING→IMPACT→EVIDENCE→RECOMMENDATION arc at the document level. Each of the four limitations maps to one bounded task; the held Phase 7 proposal is governance functioning correctly, not a flaw.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515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CASE STUDY   ·   ANALYTICS ENGINEERING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1572768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1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governed, multi-agent analytics engineering system.</a:t>
            </a:r>
            <a:endParaRPr lang="en-US" sz="4100" dirty="0"/>
          </a:p>
        </p:txBody>
      </p:sp>
      <p:sp>
        <p:nvSpPr>
          <p:cNvPr id="4" name="Text 2"/>
          <p:cNvSpPr/>
          <p:nvPr/>
        </p:nvSpPr>
        <p:spPr>
          <a:xfrm>
            <a:off x="566928" y="34290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Maldros ran a full analytics investigation — from a raw business question to an executive briefing — autonomously in </a:t>
            </a:r>
            <a:pPr algn="l" indent="0" marL="0">
              <a:lnSpc>
                <a:spcPct val="112000"/>
              </a:lnSpc>
              <a:buNone/>
            </a:pPr>
            <a:r>
              <a:rPr lang="en-US" sz="19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288.9 seconds</a:t>
            </a:r>
            <a:pPr algn="l"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governance held the whole way.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Single-operator simulation   ·   9 agents in working code   ·   6 phases validated via simulation   ·   nothing production-deployed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1064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full governed investigation ran in 288.9 seconds — and the abuse it surfaced was invisible to every aggregate view.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2212848"/>
            <a:ext cx="11064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analytics engineer cannot, by hand, hold a semantic layer consistent, keep pipelines healthy, review experiments with real statistical rigor, and turn all of it into a defensible executive briefing. Maldros runs that entire lifecycle end-to-end. The differentiator is not the speed — it is that governance stayed intact the whole way.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16052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4306824"/>
            <a:ext cx="24277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288.9s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502005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end-to-end run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6656" y="5532120"/>
            <a:ext cx="2354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→ Analyst → Statistician → Storyteller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3396996" y="416052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0148" y="4306824"/>
            <a:ext cx="24277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97.2%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506724" y="502005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held · the differentiator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06724" y="5532120"/>
            <a:ext cx="2354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 of 107 claims cited; enforced by veto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227064" y="416052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00216" y="4306824"/>
            <a:ext cx="24277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16.54×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36792" y="502005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 every aggregate missed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36792" y="5532120"/>
            <a:ext cx="2354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41-account cluster vs 0.946× population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9057132" y="416052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30284" y="4306824"/>
            <a:ext cx="24277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166860" y="502005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phases validated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66860" y="5532120"/>
            <a:ext cx="2354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simulation · synthetic dataset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1 · Phase 1 investigation, Discovery Report 84c4e728 · validated via simulation.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 ·   THE PHASE 1 FINDING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signal was concentration, not volume.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Q1 population-level abuse rate was 0.946× the non-Q1 average — not a spike. A 41-account coordinated cluster ran at 16.54× the surrounding rate, carrying $5.89M in synthetic-domain financial impact. A threshold on the aggregate would have seen nothing.</a:t>
            </a:r>
            <a:endParaRPr lang="en-US" sz="1400" dirty="0"/>
          </a:p>
        </p:txBody>
      </p:sp>
      <p:pic>
        <p:nvPicPr>
          <p:cNvPr id="5" name="Image 0" descr="concentratio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2487168"/>
            <a:ext cx="7863840" cy="3685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Phase 1 investigation · Discovery Report 84c4e728 · synthetic dataset (750K api_events, 18-month horizon) · validated via simulation.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1064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6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is enforced in the architecture, not by convention — a deterministic Layer 1 holds a veto the language model cannot override.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2231136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five-layer inference stack, Layer 1 is heuristic and deterministic; Layer 5 is the LLM orchestrator. L1 blocks are final — a known-bad data signature is not out-voted by the model's narrative assessment. Correctness becomes a property of the structure, not a hope about the model's judgment on any given run.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20624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4352544"/>
            <a:ext cx="3358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5065776"/>
            <a:ext cx="3285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Inference-stack layers · L1 vetoes L5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6448" y="420624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19600" y="4352544"/>
            <a:ext cx="3358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56176" y="5065776"/>
            <a:ext cx="3285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Permanently-locked Design Invariants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25968" y="420624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199120" y="4352544"/>
            <a:ext cx="3358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235696" y="5065776"/>
            <a:ext cx="3285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Permanently-locked operator directives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Topics 4, 8 &amp; 9 · five-layer inference stack; twelve Design Invariants · design-complete, exercised in simulation.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  ·   HOW IT IS ENFORCED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5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enforcement problems, two mechanisms: some outputs cannot be produced, and some actions cannot be taken without a human saying yes.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5349240" cy="2514600"/>
          </a:xfrm>
          <a:prstGeom prst="roundRect">
            <a:avLst>
              <a:gd name="adj" fmla="val 2182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368296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outputs cannot be produced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22960" y="2990088"/>
            <a:ext cx="48371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deterministic Storyteller L1 vetoes — causal-language, citation coverage, and omission audit — block a draft before it can ship. In Phase 1 this produced 97.2% citation coverage (104 of 107 claims), with seven unsupported drafts blocked before one passed.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81928" y="2148840"/>
            <a:ext cx="5349240" cy="2514600"/>
          </a:xfrm>
          <a:prstGeom prst="roundRect">
            <a:avLst>
              <a:gd name="adj" fmla="val 2182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37960" y="2368296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actions cannot be taken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537960" y="2990088"/>
            <a:ext cx="48371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Confirmation Gate fires on nine triggers written in code, not policy. It never auto-approves — not on timeout, not on operator absence. One self-generated Phase 7 improvement proposal is held at the gate right now, awaiting human sign-off.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66928" y="5029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proposal waiting at the gate is proof the no-auto-approve rule works — not a backlog.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9 · three Storyteller L1 vetoes; Confirmation Gate (nine triggers, no auto-approve) · validated via simulation.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1064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6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six validated phases, the system delivered analyst-quality work at machine speed — with governance intact, not traded away to get there.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2231136"/>
            <a:ext cx="11064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was validated by its own result rather than rolled into a single composite number: investigation, self-healing, experiment analysis, self-improvement, invention, and full autonomous audit. Reporting by phase is the honest form — it shows exactly what was exercised, and what was 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0F251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44256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12648" y="5120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50592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0F251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450592" y="44256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496312" y="5120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34256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0F251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34256" y="44256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379976" y="5120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0F251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217920" y="44256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263640" y="5120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Self-improvement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01584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C8882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101584" y="44256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147304" y="5120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Invention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985248" y="4297680"/>
            <a:ext cx="1645920" cy="1371600"/>
          </a:xfrm>
          <a:prstGeom prst="roundRect">
            <a:avLst>
              <a:gd name="adj" fmla="val 4000"/>
            </a:avLst>
          </a:prstGeom>
          <a:solidFill>
            <a:srgbClr val="0F251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985248" y="4425696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10030968" y="51206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3 &amp; Topic 12 · Phases 1–6, each validated via simulation on the synthetic dataset.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 ·   PHASE BY PHASE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68096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phase was validated by result, not by a single composite number.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1106424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3977640"/>
                <a:gridCol w="4754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A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PHASE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1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A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RAN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1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AF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51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First end-to-end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 → briefing, zero human steps between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288.9s; 41-account cluster surfaced at 16.54×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Self-healing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injected failure classes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detected, classified, autonomously remediated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· Experiment analysis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experiments, analyzed blind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3 correct: NO_SHIP · HOLD · SHIP — none pre-labeled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· Self-improvement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10-cycle compounding run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40–53% edit-distance step, then flat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· The Forge (invention)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novel detection framework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“Spectral Coordination Sieve” → Conditionally Robust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· Full autonomous audit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 artifacts routed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correct Mode A / B (89 / 86); 73.6s, no scaffolding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CE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175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pre-labeled. No human scaffolding at any intermediate step. The one place a human was required — the gate — is the one place a human is meant to be.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12 · Phases 1–6 · validated via simulation · synthetic dataset · nothing production-deployed.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mandates produce auditable failures; monolithic agents produce inscrutable ones.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810512"/>
            <a:ext cx="11064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agents each carry one mandate paired with exactly the toolset it requires — the Red-Team Agent has no live-data or production access; the Diagnostic Agent has no write access. When something fails, the bounded scope makes the failure legible instead of burying it inside one all-powerful model. The stack is concrete: DuckDB over Parquet, Python (pandas / polars / networkx), orchestrated through Claude Code.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3456432"/>
            <a:ext cx="3505200" cy="1417320"/>
          </a:xfrm>
          <a:prstGeom prst="roundRect">
            <a:avLst>
              <a:gd name="adj" fmla="val 3871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3602736"/>
            <a:ext cx="3358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4315968"/>
            <a:ext cx="3285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Narrow-mandate agents · mandate + toolset paired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6448" y="3456432"/>
            <a:ext cx="3505200" cy="1417320"/>
          </a:xfrm>
          <a:prstGeom prst="roundRect">
            <a:avLst>
              <a:gd name="adj" fmla="val 3871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19600" y="3602736"/>
            <a:ext cx="3358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56176" y="4315968"/>
            <a:ext cx="3285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layers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125968" y="3456432"/>
            <a:ext cx="3505200" cy="1417320"/>
          </a:xfrm>
          <a:prstGeom prst="roundRect">
            <a:avLst>
              <a:gd name="adj" fmla="val 3871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199120" y="3602736"/>
            <a:ext cx="3358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235696" y="4315968"/>
            <a:ext cx="3285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CDI Layer domains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074920"/>
            <a:ext cx="11064240" cy="713232"/>
          </a:xfrm>
          <a:prstGeom prst="roundRect">
            <a:avLst>
              <a:gd name="adj" fmla="val 6410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86384" y="5074920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bounded agents:   </a:t>
            </a:r>
            <a:pPr algn="l" indent="0" marL="0">
              <a:buNone/>
            </a:pPr>
            <a:r>
              <a:rPr lang="en-US" sz="13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· Data Architect · Analyst · Statistician · Storyteller · Diagnostic · Healing · Red-Team · Forge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6 · nine agents in working code (eight investigation/operations agents plus the Phase 5 Forge); seven-layer architecture; CDI Layer (8 domains) · design-complete, exercised in simulation.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METHODOLOGY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 discipline is the first deliverable, not the last check.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700784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150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was built the way it audits investigations. A three-document specification hierarchy resolves conflicts by deterministic precedence; a persistent Memory / Progression / Change-Tracker layer carries context across sessions; and every phase transition passes a mandatory gap-audit before the next begins. The same auditability the system produces on its findings governs how it was made.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379476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3941064"/>
            <a:ext cx="3358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76656" y="4654296"/>
            <a:ext cx="3285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docs · deterministic precedence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6656" y="5056632"/>
            <a:ext cx="3285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 &gt; architecture &gt; implementation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4346448" y="379476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419600" y="3941064"/>
            <a:ext cx="3358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9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456176" y="4654296"/>
            <a:ext cx="3285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exit criteria · confirmed, not assumed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56176" y="5056632"/>
            <a:ext cx="3285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gap-audited before Phase 1 began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8125968" y="3794760"/>
            <a:ext cx="3505200" cy="1737360"/>
          </a:xfrm>
          <a:prstGeom prst="roundRect">
            <a:avLst>
              <a:gd name="adj" fmla="val 3158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199120" y="3941064"/>
            <a:ext cx="3358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235696" y="4654296"/>
            <a:ext cx="3285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rebuilt from context loss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35696" y="5056632"/>
            <a:ext cx="3285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continuity layer held across sessions</a:t>
            </a:r>
            <a:endParaRPr lang="en-US" sz="86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Topic 5 · three-document spec hierarchy; Phase 0 nine exit criteria (all confirmed) · D-8 gap-audit discipline.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   ·   MODELED AT CONCURRENT FRONTIER SCALE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600" b="1" dirty="0">
                <a:solidFill>
                  <a:srgbClr val="0F25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concurrent frontier scale, the cost of running the system is not the binding constraint.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664208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52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across three concurrent scenarios — 15 / 30 / 60 analyst seats, roughly 750 / 3,900 / 15,000 investigations a year — the incremental cash cost is dominated by the platform-engineering headcount to operate the system, not by model tokens or the warehouse (DuckDB in simulation, BigQuery as the production target).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306324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3209544"/>
            <a:ext cx="24277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$210K–$800K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76656" y="39227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cash cost · per year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6656" y="4434840"/>
            <a:ext cx="2354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[Projected] · platform-eng-dominated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3396996" y="306324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0148" y="3209544"/>
            <a:ext cx="24277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8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45:1–50:1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506724" y="39227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General-composite ROI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06724" y="4434840"/>
            <a:ext cx="2354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[Projected] · ~84:1–98:1 with fraud domain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227064" y="306324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00216" y="3209544"/>
            <a:ext cx="24277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36792" y="39227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payback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36792" y="4434840"/>
            <a:ext cx="2354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[Projected] · sub-ten-day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9057132" y="3063240"/>
            <a:ext cx="2574036" cy="1847088"/>
          </a:xfrm>
          <a:prstGeom prst="roundRect">
            <a:avLst>
              <a:gd name="adj" fmla="val 2970"/>
            </a:avLst>
          </a:prstGeom>
          <a:solidFill>
            <a:srgbClr val="EDE8D0"/>
          </a:solidFill>
          <a:ln w="12700">
            <a:solidFill>
              <a:srgbClr val="D6CEB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30284" y="3209544"/>
            <a:ext cx="24277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$58M–$338M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166860" y="39227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value · 5–10×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66860" y="4434840"/>
            <a:ext cx="23545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[Projected] · general composite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66928" y="5230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is [Projected] from a synthetic-domain simulation, not live revenue. The sub-ten-day payback is arithmetically correct and operationally misleading — plan to the milestone sequence (first governed investigation in month one; compounding value over months two-to-six), not the ratio.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6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case study Appendix C §12 · concurrent frontier-scale cost model (15 / 30 / 60 seats) · all figures [Projected].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50" kern="0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STATUS   ·   WHAT IS AND IS NOT BUILT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FF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single-operator simulation, stated honestly — the boundary is an engineering asset, not a confession.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213969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agents in working code. Six phases validated via simulation. Nothing production-deployed. Four limitations apply, each stated precisely and each mapped to one bounded task: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12648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77800" indent="-177800">
              <a:buSzPct val="100000"/>
              <a:buChar char="•"/>
            </a:pPr>
            <a:r>
              <a:rPr lang="en-US" sz="1300" b="1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Synthetic, not live, data   </a:t>
            </a:r>
            <a:pPr algn="l" indent="0" marL="0">
              <a:buNone/>
            </a:pPr>
            <a:r>
              <a:rPr lang="en-US" sz="1300" b="1" i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ingestion + transfer validation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12648" y="3337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77800" indent="-177800">
              <a:buSzPct val="100000"/>
              <a:buChar char="•"/>
            </a:pPr>
            <a:r>
              <a:rPr lang="en-US" sz="1300" b="1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operator UI — an approved mockup only   </a:t>
            </a:r>
            <a:pPr algn="l" indent="0" marL="0">
              <a:buNone/>
            </a:pPr>
            <a:r>
              <a:rPr lang="en-US" sz="1300" b="1" i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wire the console to data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12648" y="3749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77800" indent="-177800">
              <a:buSzPct val="100000"/>
              <a:buChar char="•"/>
            </a:pPr>
            <a:r>
              <a:rPr lang="en-US" sz="1300" b="1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query logic built around its demonstrated investigation   </a:t>
            </a:r>
            <a:pPr algn="l" indent="0" marL="0">
              <a:buNone/>
            </a:pPr>
            <a:r>
              <a:rPr lang="en-US" sz="1300" b="1" i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query generalization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12648" y="4160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77800" indent="-177800">
              <a:buSzPct val="100000"/>
              <a:buChar char="•"/>
            </a:pPr>
            <a:r>
              <a:rPr lang="en-US" sz="1300" b="1" dirty="0">
                <a:solidFill>
                  <a:srgbClr val="ED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Phase 7 proposal held at the gate   </a:t>
            </a:r>
            <a:pPr algn="l" indent="0" marL="0">
              <a:buNone/>
            </a:pPr>
            <a:r>
              <a:rPr lang="en-US" sz="1300" b="1" i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human sign-off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489204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C8882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41248" y="5029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F25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full case study for the evidence behind every claim. The honest boundary — precision about what the system does not yet do — is the same standard the system enforces on its own reports. That discipline is the differentiator.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A8A0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Maldros · maturity states labeled throughout: design-complete · validated via simulation · production-deployed (none).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252525"/>
      </a:dk1>
      <a:lt1>
        <a:sysClr val="window" lastClr="FFFAFA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252525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Maldros — A governed, multi-agent analytics engineering system</dc:title>
  <dc:subject>PptxGenJS Presentation</dc:subject>
  <dc:creator>Maldros</dc:creator>
  <cp:lastModifiedBy>Maldros</cp:lastModifiedBy>
  <cp:revision>1</cp:revision>
  <dcterms:created xsi:type="dcterms:W3CDTF">2026-07-26T16:36:09Z</dcterms:created>
  <dcterms:modified xsi:type="dcterms:W3CDTF">2026-07-26T16:36:09Z</dcterms:modified>
</cp:coreProperties>
</file>